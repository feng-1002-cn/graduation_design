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889000" y="571500"/>
            <a:ext cx="10160000" cy="1079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000"/>
              <a:t>{{title}}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889000" y="1968500"/>
            <a:ext cx="10414000" cy="419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800"/>
              <a:t>{{subtitle}}</a:t>
            </a:r>
            <a:endParaRPr lang="zh-CN"/>
          </a:p>
        </p:txBody>
      </p:sp>
      <p:sp>
        <p:nvSpPr>
          <p:cNvPr name="TextBox 4" id="4"/>
          <p:cNvSpPr txBox="true"/>
          <p:nvPr/>
        </p:nvSpPr>
        <p:spPr>
          <a:xfrm>
            <a:off x="889000" y="6477000"/>
            <a:ext cx="10414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100"/>
              <a:t>证据驱动的学科竞赛项目助手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889000" y="571500"/>
            <a:ext cx="10160000" cy="1079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000"/>
              <a:t>项目背景与需求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889000" y="1968500"/>
            <a:ext cx="10414000" cy="419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800"/>
              <a:t>{{background}}</a:t>
            </a:r>
          </a:p>
          <a:p>
            <a:pPr algn="l">
              <a:defRPr/>
            </a:pPr>
            <a:r>
              <a:rPr lang="en-US"/>
              <a:t/>
            </a:r>
          </a:p>
          <a:p>
            <a:pPr algn="l">
              <a:defRPr/>
            </a:pPr>
            <a:r>
              <a:rPr lang="en-US"/>
              <a:t>{{requirements}}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6477000"/>
            <a:ext cx="10414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100"/>
              <a:t>明确问题、用户与作品边界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889000" y="571500"/>
            <a:ext cx="10160000" cy="1079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000"/>
              <a:t>功能模块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889000" y="1968500"/>
            <a:ext cx="10414000" cy="419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800"/>
              <a:t>{{modules}}</a:t>
            </a:r>
            <a:endParaRPr lang="zh-CN"/>
          </a:p>
        </p:txBody>
      </p:sp>
      <p:sp>
        <p:nvSpPr>
          <p:cNvPr name="TextBox 4" id="4"/>
          <p:cNvSpPr txBox="true"/>
          <p:nvPr/>
        </p:nvSpPr>
        <p:spPr>
          <a:xfrm>
            <a:off x="889000" y="6477000"/>
            <a:ext cx="10414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100"/>
              <a:t>从最小可用闭环开始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889000" y="571500"/>
            <a:ext cx="10160000" cy="1079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000"/>
              <a:t>技术路线与创新点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889000" y="1968500"/>
            <a:ext cx="10414000" cy="419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800"/>
              <a:t>{{techRoute}}</a:t>
            </a:r>
          </a:p>
          <a:p>
            <a:pPr algn="l">
              <a:defRPr/>
            </a:pPr>
            <a:r>
              <a:rPr lang="en-US"/>
              <a:t/>
            </a:r>
          </a:p>
          <a:p>
            <a:pPr algn="l">
              <a:defRPr/>
            </a:pPr>
            <a:r>
              <a:rPr lang="en-US"/>
              <a:t>创新点：{{innovation}}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6477000"/>
            <a:ext cx="10414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100"/>
              <a:t>可替换、可测试、可演示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889000" y="571500"/>
            <a:ext cx="10160000" cy="1079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3000"/>
              <a:t>开发计划</a:t>
            </a:r>
            <a:endParaRPr lang="zh-CN"/>
          </a:p>
        </p:txBody>
      </p:sp>
      <p:sp>
        <p:nvSpPr>
          <p:cNvPr name="TextBox 3" id="3"/>
          <p:cNvSpPr txBox="true"/>
          <p:nvPr/>
        </p:nvSpPr>
        <p:spPr>
          <a:xfrm>
            <a:off x="889000" y="1968500"/>
            <a:ext cx="10414000" cy="419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800"/>
              <a:t>{{schedule}}</a:t>
            </a:r>
            <a:endParaRPr lang="zh-CN"/>
          </a:p>
        </p:txBody>
      </p:sp>
      <p:sp>
        <p:nvSpPr>
          <p:cNvPr name="TextBox 4" id="4"/>
          <p:cNvSpPr txBox="true"/>
          <p:nvPr/>
        </p:nvSpPr>
        <p:spPr>
          <a:xfrm>
            <a:off x="889000" y="6477000"/>
            <a:ext cx="10414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 sz="1100"/>
              <a:t>以规则核验与演示验收收尾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